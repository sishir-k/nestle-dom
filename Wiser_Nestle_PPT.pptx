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14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DDFE45-E060-B44F-BB27-80B4F2EC78C2}" v="1260" dt="2026-08-04T09:34:28.8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  <Relationship Id="rId14" Type="http://schemas.openxmlformats.org/officeDocument/2006/relationships/slide" Target="slides/slide8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813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291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411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924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483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293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776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447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801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79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660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32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356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9296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844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216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934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709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  <p:sldLayoutId id="2147483815" r:id="rId15"/>
    <p:sldLayoutId id="2147483816" r:id="rId16"/>
    <p:sldLayoutId id="214748381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9250357" cy="2616199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Nestlé Distributed Order Management Challenge</a:t>
            </a:r>
            <a:endParaRPr lang="en-US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887" y="3996267"/>
            <a:ext cx="9129870" cy="138853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200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Quantum-Inspired Optimization for Order-to-DC Assignment</a:t>
            </a:r>
            <a:endParaRPr lang="en-US" sz="2200" b="1" dirty="0">
              <a:solidFill>
                <a:schemeClr val="accent1">
                  <a:lumMod val="76000"/>
                </a:schemeClr>
              </a:solidFill>
              <a:ea typeface="+mn-lt"/>
              <a:cs typeface="+mn-lt"/>
            </a:endParaRPr>
          </a:p>
          <a:p>
            <a:r>
              <a:rPr lang="en-US" sz="2200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WISER 2026 Quantum Challenge</a:t>
            </a:r>
            <a:endParaRPr lang="en-US" sz="2200" b="1" dirty="0">
              <a:solidFill>
                <a:schemeClr val="accent1">
                  <a:lumMod val="76000"/>
                </a:schemeClr>
              </a:solidFill>
              <a:ea typeface="+mn-lt"/>
              <a:cs typeface="+mn-lt"/>
            </a:endParaRPr>
          </a:p>
          <a:p>
            <a:r>
              <a:rPr lang="en-US" sz="2200" b="1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Sishir </a:t>
            </a:r>
            <a:r>
              <a:rPr lang="en-US" sz="2200" b="1" dirty="0" err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Katepalli</a:t>
            </a:r>
            <a:r>
              <a:rPr lang="en-US" sz="2200" b="1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 | </a:t>
            </a:r>
            <a:r>
              <a:rPr lang="en-US" sz="2200" b="1" dirty="0" err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B.Tech</a:t>
            </a:r>
            <a:r>
              <a:rPr lang="en-US" sz="2200" b="1" dirty="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 CSE, Amrita School of Engineering, Chennai</a:t>
            </a:r>
            <a:endParaRPr lang="en-US" sz="2200" b="1">
              <a:solidFill>
                <a:schemeClr val="accent1">
                  <a:lumMod val="76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168E2-ADF0-0E35-A363-60E4647A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9889317" cy="1033731"/>
          </a:xfrm>
        </p:spPr>
        <p:txBody>
          <a:bodyPr>
            <a:noAutofit/>
          </a:bodyPr>
          <a:lstStyle/>
          <a:p>
            <a:r>
              <a:rPr lang="en-US" sz="3200">
                <a:latin typeface="Boucherie Block"/>
                <a:ea typeface="+mj-lt"/>
                <a:cs typeface="+mj-lt"/>
              </a:rPr>
              <a:t>When a distribution center can't fully fill an order, where should it go instead?</a:t>
            </a:r>
            <a:endParaRPr lang="en-US" sz="3200">
              <a:latin typeface="Boucherie Block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6C192-6EB9-FF71-33CE-254B00684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18094"/>
            <a:ext cx="10018713" cy="444691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>
                <a:latin typeface="Aptos"/>
              </a:rPr>
              <a:t>For this question, there are three options:</a:t>
            </a:r>
          </a:p>
          <a:p>
            <a:r>
              <a:rPr lang="en-US" dirty="0">
                <a:latin typeface="Aptos"/>
              </a:rPr>
              <a:t>Either ships the order incompletely that is </a:t>
            </a:r>
            <a:r>
              <a:rPr lang="en-US">
                <a:latin typeface="Aptos"/>
              </a:rPr>
              <a:t>incurs a penalty </a:t>
            </a:r>
          </a:p>
          <a:p>
            <a:pPr>
              <a:buClr>
                <a:srgbClr val="1287C3"/>
              </a:buClr>
            </a:pPr>
            <a:r>
              <a:rPr lang="en-US" dirty="0">
                <a:latin typeface="Aptos"/>
              </a:rPr>
              <a:t>Rer</a:t>
            </a:r>
            <a:r>
              <a:rPr lang="en-US">
                <a:latin typeface="Aptos"/>
              </a:rPr>
              <a:t>oute the order to another DC </a:t>
            </a:r>
            <a:endParaRPr lang="en-US" dirty="0">
              <a:latin typeface="Aptos"/>
            </a:endParaRPr>
          </a:p>
          <a:p>
            <a:pPr>
              <a:buClr>
                <a:srgbClr val="1287C3"/>
              </a:buClr>
            </a:pPr>
            <a:r>
              <a:rPr lang="en-US" dirty="0">
                <a:latin typeface="Aptos"/>
              </a:rPr>
              <a:t>Ship part of the order that can be </a:t>
            </a:r>
            <a:r>
              <a:rPr lang="en-US">
                <a:latin typeface="Aptos"/>
              </a:rPr>
              <a:t>fulfilled from one DC and the other part from another</a:t>
            </a:r>
            <a:endParaRPr lang="en-US" dirty="0">
              <a:latin typeface="Aptos"/>
            </a:endParaRPr>
          </a:p>
          <a:p>
            <a:pPr marL="0" indent="0">
              <a:buClr>
                <a:srgbClr val="1287C3"/>
              </a:buClr>
              <a:buNone/>
            </a:pPr>
            <a:r>
              <a:rPr lang="en-US" dirty="0">
                <a:latin typeface="Aptos"/>
              </a:rPr>
              <a:t>So, Every order is competing with the other for the same limited inventory and dock capacity. Therefore, the "best assignment for the whole batch orders isn't just the best individual choice </a:t>
            </a:r>
            <a:r>
              <a:rPr lang="en-US">
                <a:latin typeface="Aptos"/>
              </a:rPr>
              <a:t>repea</a:t>
            </a:r>
            <a:r>
              <a:rPr lang="en-US" dirty="0">
                <a:latin typeface="Aptos"/>
              </a:rPr>
              <a:t>ted</a:t>
            </a:r>
          </a:p>
          <a:p>
            <a:pPr marL="0" indent="0">
              <a:buNone/>
            </a:pPr>
            <a:r>
              <a:rPr lang="en-US" b="1">
                <a:latin typeface="Aptos Display"/>
                <a:ea typeface="+mn-lt"/>
                <a:cs typeface="+mn-lt"/>
              </a:rPr>
              <a:t>With 1,109 orders and 12 DCs competing for shared inventory, this becomes a combinatorial optimization problem — not solvable order-by-order</a:t>
            </a:r>
            <a:endParaRPr lang="en-US" b="1">
              <a:latin typeface="Aptos Display"/>
            </a:endParaRPr>
          </a:p>
          <a:p>
            <a:pPr marL="0" indent="0">
              <a:buNone/>
            </a:pPr>
            <a:endParaRPr lang="en-US" dirty="0">
              <a:latin typeface="Corbel" panose="020B0503020204020204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359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2488C-6B44-EE6D-C211-C2EBACCBE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033730"/>
          </a:xfrm>
        </p:spPr>
        <p:txBody>
          <a:bodyPr>
            <a:normAutofit fontScale="90000"/>
          </a:bodyPr>
          <a:lstStyle/>
          <a:p>
            <a:r>
              <a:rPr lang="en-US" sz="3200">
                <a:latin typeface="Boucherie Block"/>
              </a:rPr>
              <a:t>Our Approach</a:t>
            </a:r>
            <a:br>
              <a:rPr lang="en-US" sz="3200" dirty="0">
                <a:latin typeface="Boucherie Block"/>
              </a:rPr>
            </a:br>
            <a:r>
              <a:rPr lang="en-US" sz="3200">
                <a:latin typeface="Aptos"/>
                <a:ea typeface="+mj-lt"/>
                <a:cs typeface="+mj-lt"/>
              </a:rPr>
              <a:t>Three methods, compared head-to-head</a:t>
            </a:r>
            <a:endParaRPr lang="en-US" sz="3200" dirty="0">
              <a:latin typeface="Apto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17285B-1E43-151E-1D96-666149CCEF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8059583"/>
              </p:ext>
            </p:extLst>
          </p:nvPr>
        </p:nvGraphicFramePr>
        <p:xfrm>
          <a:off x="1380226" y="2271622"/>
          <a:ext cx="10115989" cy="342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0765">
                  <a:extLst>
                    <a:ext uri="{9D8B030D-6E8A-4147-A177-3AD203B41FA5}">
                      <a16:colId xmlns:a16="http://schemas.microsoft.com/office/drawing/2014/main" val="3458284147"/>
                    </a:ext>
                  </a:extLst>
                </a:gridCol>
                <a:gridCol w="6095224">
                  <a:extLst>
                    <a:ext uri="{9D8B030D-6E8A-4147-A177-3AD203B41FA5}">
                      <a16:colId xmlns:a16="http://schemas.microsoft.com/office/drawing/2014/main" val="1776313349"/>
                    </a:ext>
                  </a:extLst>
                </a:gridCol>
              </a:tblGrid>
              <a:tr h="466690">
                <a:tc>
                  <a:txBody>
                    <a:bodyPr/>
                    <a:lstStyle/>
                    <a:p>
                      <a:r>
                        <a:rPr lang="en-US" sz="2200">
                          <a:latin typeface="Aptos"/>
                        </a:rPr>
                        <a:t>Method/Model</a:t>
                      </a:r>
                      <a:endParaRPr lang="en-US" sz="2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Aptos"/>
                        </a:rPr>
                        <a:t>What it does?</a:t>
                      </a:r>
                      <a:endParaRPr lang="en-US" sz="2200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478467"/>
                  </a:ext>
                </a:extLst>
              </a:tr>
              <a:tr h="466690">
                <a:tc>
                  <a:txBody>
                    <a:bodyPr/>
                    <a:lstStyle/>
                    <a:p>
                      <a:r>
                        <a:rPr lang="en-US" sz="2200">
                          <a:latin typeface="Aptos"/>
                        </a:rPr>
                        <a:t>Default Assignment</a:t>
                      </a:r>
                      <a:endParaRPr lang="en-US" sz="2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Aptos"/>
                        </a:rPr>
                        <a:t>Does nothing -No reassignment takes place, regardless of inventory size and dock </a:t>
                      </a:r>
                      <a:r>
                        <a:rPr lang="en-US" sz="2200">
                          <a:latin typeface="Aptos"/>
                        </a:rPr>
                        <a:t>capacity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500244"/>
                  </a:ext>
                </a:extLst>
              </a:tr>
              <a:tr h="46669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Aptos"/>
                        </a:rPr>
                        <a:t>Greedy Reass</a:t>
                      </a:r>
                      <a:r>
                        <a:rPr lang="en-US" sz="2200">
                          <a:latin typeface="Aptos"/>
                        </a:rPr>
                        <a:t>ignment</a:t>
                      </a:r>
                      <a:endParaRPr lang="en-US" sz="22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dirty="0">
                          <a:latin typeface="Aptos"/>
                        </a:rPr>
                        <a:t>Assigns the shortfall to the DC with the most inventory. Fast, sequential, one-order at a time, heuristic however; does not </a:t>
                      </a:r>
                      <a:r>
                        <a:rPr lang="en-US" sz="2200">
                          <a:latin typeface="Aptos"/>
                        </a:rPr>
                        <a:t>guarantee</a:t>
                      </a:r>
                      <a:r>
                        <a:rPr lang="en-US" sz="2200" dirty="0">
                          <a:latin typeface="Aptos"/>
                        </a:rPr>
                        <a:t> global optimality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916861"/>
                  </a:ext>
                </a:extLst>
              </a:tr>
              <a:tr h="46669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Aptos"/>
                        </a:rPr>
                        <a:t>MILP based </a:t>
                      </a:r>
                      <a:r>
                        <a:rPr lang="en-US" sz="2200">
                          <a:latin typeface="Aptos"/>
                        </a:rPr>
                        <a:t>optimized</a:t>
                      </a:r>
                      <a:r>
                        <a:rPr lang="en-US" sz="2200" dirty="0">
                          <a:latin typeface="Aptos"/>
                        </a:rPr>
                        <a:t> Reassignment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noStrike" noProof="0">
                          <a:latin typeface="Aptos"/>
                        </a:rPr>
                        <a:t>considers all orders jointly, guarantees the true best answer</a:t>
                      </a:r>
                      <a:endParaRPr lang="en-US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932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372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234DB-5D4B-32C8-6207-5F5CC3FB1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0706" y="685800"/>
            <a:ext cx="8175186" cy="818071"/>
          </a:xfrm>
        </p:spPr>
        <p:txBody>
          <a:bodyPr>
            <a:normAutofit/>
          </a:bodyPr>
          <a:lstStyle/>
          <a:p>
            <a:r>
              <a:rPr lang="en-US" b="1"/>
              <a:t>Key Results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DDBE9DC-3FFE-626B-A7E6-CAD303CB00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6464016"/>
              </p:ext>
            </p:extLst>
          </p:nvPr>
        </p:nvGraphicFramePr>
        <p:xfrm>
          <a:off x="1760705" y="1718792"/>
          <a:ext cx="8688437" cy="254548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3969359">
                  <a:extLst>
                    <a:ext uri="{9D8B030D-6E8A-4147-A177-3AD203B41FA5}">
                      <a16:colId xmlns:a16="http://schemas.microsoft.com/office/drawing/2014/main" val="78281262"/>
                    </a:ext>
                  </a:extLst>
                </a:gridCol>
                <a:gridCol w="2330869">
                  <a:extLst>
                    <a:ext uri="{9D8B030D-6E8A-4147-A177-3AD203B41FA5}">
                      <a16:colId xmlns:a16="http://schemas.microsoft.com/office/drawing/2014/main" val="1608334936"/>
                    </a:ext>
                  </a:extLst>
                </a:gridCol>
                <a:gridCol w="2388209">
                  <a:extLst>
                    <a:ext uri="{9D8B030D-6E8A-4147-A177-3AD203B41FA5}">
                      <a16:colId xmlns:a16="http://schemas.microsoft.com/office/drawing/2014/main" val="3322015705"/>
                    </a:ext>
                  </a:extLst>
                </a:gridCol>
              </a:tblGrid>
              <a:tr h="636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ptos"/>
                        </a:rPr>
                        <a:t>Method</a:t>
                      </a:r>
                    </a:p>
                  </a:txBody>
                  <a:tcPr marL="143055" marR="143055" marT="71527" marB="715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ptos"/>
                        </a:rPr>
                        <a:t>Profit</a:t>
                      </a:r>
                    </a:p>
                  </a:txBody>
                  <a:tcPr marL="143055" marR="143055" marT="71527" marB="715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ptos"/>
                        </a:rPr>
                        <a:t>Fill Rate</a:t>
                      </a:r>
                    </a:p>
                  </a:txBody>
                  <a:tcPr marL="143055" marR="143055" marT="71527" marB="71527" anchor="ctr"/>
                </a:tc>
                <a:extLst>
                  <a:ext uri="{0D108BD9-81ED-4DB2-BD59-A6C34878D82A}">
                    <a16:rowId xmlns:a16="http://schemas.microsoft.com/office/drawing/2014/main" val="863778144"/>
                  </a:ext>
                </a:extLst>
              </a:tr>
              <a:tr h="636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ptos"/>
                        </a:rPr>
                        <a:t>Default</a:t>
                      </a:r>
                    </a:p>
                  </a:txBody>
                  <a:tcPr marL="143055" marR="143055" marT="71527" marB="715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ptos"/>
                        </a:rPr>
                        <a:t>$75.9M</a:t>
                      </a:r>
                    </a:p>
                  </a:txBody>
                  <a:tcPr marL="143055" marR="143055" marT="71527" marB="715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ptos"/>
                        </a:rPr>
                        <a:t>95.8%</a:t>
                      </a:r>
                    </a:p>
                  </a:txBody>
                  <a:tcPr marL="143055" marR="143055" marT="71527" marB="71527" anchor="ctr"/>
                </a:tc>
                <a:extLst>
                  <a:ext uri="{0D108BD9-81ED-4DB2-BD59-A6C34878D82A}">
                    <a16:rowId xmlns:a16="http://schemas.microsoft.com/office/drawing/2014/main" val="2714996363"/>
                  </a:ext>
                </a:extLst>
              </a:tr>
              <a:tr h="636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ptos"/>
                        </a:rPr>
                        <a:t>Greedy</a:t>
                      </a:r>
                    </a:p>
                  </a:txBody>
                  <a:tcPr marL="143055" marR="143055" marT="71527" marB="715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ptos"/>
                        </a:rPr>
                        <a:t>$81.1M</a:t>
                      </a:r>
                    </a:p>
                  </a:txBody>
                  <a:tcPr marL="143055" marR="143055" marT="71527" marB="715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ptos"/>
                        </a:rPr>
                        <a:t>98.3%</a:t>
                      </a:r>
                    </a:p>
                  </a:txBody>
                  <a:tcPr marL="143055" marR="143055" marT="71527" marB="71527" anchor="ctr"/>
                </a:tc>
                <a:extLst>
                  <a:ext uri="{0D108BD9-81ED-4DB2-BD59-A6C34878D82A}">
                    <a16:rowId xmlns:a16="http://schemas.microsoft.com/office/drawing/2014/main" val="618815422"/>
                  </a:ext>
                </a:extLst>
              </a:tr>
              <a:tr h="636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latin typeface="Aptos"/>
                        </a:rPr>
                        <a:t>MILP (optimal)</a:t>
                      </a:r>
                      <a:endParaRPr lang="en-US" sz="2800">
                        <a:latin typeface="Aptos"/>
                      </a:endParaRPr>
                    </a:p>
                  </a:txBody>
                  <a:tcPr marL="143055" marR="143055" marT="71527" marB="715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latin typeface="Aptos"/>
                        </a:rPr>
                        <a:t>$84.7M</a:t>
                      </a:r>
                      <a:endParaRPr lang="en-US" sz="2800">
                        <a:latin typeface="Aptos"/>
                      </a:endParaRPr>
                    </a:p>
                  </a:txBody>
                  <a:tcPr marL="143055" marR="143055" marT="71527" marB="715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ptos"/>
                        </a:rPr>
                        <a:t>97.2%</a:t>
                      </a:r>
                    </a:p>
                  </a:txBody>
                  <a:tcPr marL="143055" marR="143055" marT="71527" marB="71527" anchor="ctr"/>
                </a:tc>
                <a:extLst>
                  <a:ext uri="{0D108BD9-81ED-4DB2-BD59-A6C34878D82A}">
                    <a16:rowId xmlns:a16="http://schemas.microsoft.com/office/drawing/2014/main" val="26809685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4D4D167-FB82-F78A-DCC6-5BBDDD2F747C}"/>
              </a:ext>
            </a:extLst>
          </p:cNvPr>
          <p:cNvSpPr txBox="1"/>
          <p:nvPr/>
        </p:nvSpPr>
        <p:spPr>
          <a:xfrm>
            <a:off x="1783404" y="4280169"/>
            <a:ext cx="86414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ptos"/>
                <a:ea typeface="+mn-lt"/>
                <a:cs typeface="+mn-lt"/>
              </a:rPr>
              <a:t>"MILP has a lower fill rate than greedy, but higher profit — it strategically leaves low-value demand unfilled when shipping cost outweighs the penalty."</a:t>
            </a:r>
            <a:endParaRPr lang="en-US" sz="200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08019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1DA75-6226-877D-477B-2A1E0A477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98253"/>
            <a:ext cx="10018713" cy="1134373"/>
          </a:xfrm>
        </p:spPr>
        <p:txBody>
          <a:bodyPr>
            <a:normAutofit fontScale="90000"/>
          </a:bodyPr>
          <a:lstStyle/>
          <a:p>
            <a:r>
              <a:rPr lang="en-US" sz="4400">
                <a:ea typeface="+mj-lt"/>
                <a:cs typeface="+mj-lt"/>
              </a:rPr>
              <a:t>Quantum-Inspired Extensio</a:t>
            </a:r>
            <a:r>
              <a:rPr lang="en-US" sz="3200">
                <a:ea typeface="+mj-lt"/>
                <a:cs typeface="+mj-lt"/>
              </a:rPr>
              <a:t>n</a:t>
            </a:r>
            <a:br>
              <a:rPr lang="en-US" sz="3200" b="1" dirty="0">
                <a:ea typeface="+mj-lt"/>
                <a:cs typeface="+mj-lt"/>
              </a:rPr>
            </a:br>
            <a:r>
              <a:rPr lang="en-US" sz="3200" b="1">
                <a:ea typeface="+mj-lt"/>
                <a:cs typeface="+mj-lt"/>
              </a:rPr>
              <a:t>From exact optimization to quantum-inspired heuristics</a:t>
            </a:r>
            <a:endParaRPr lang="en-US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C6F4E-A45C-D495-0FC0-F0F74A670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9328" y="1531188"/>
            <a:ext cx="9903695" cy="5122653"/>
          </a:xfrm>
        </p:spPr>
        <p:txBody>
          <a:bodyPr>
            <a:normAutofit/>
          </a:bodyPr>
          <a:lstStyle/>
          <a:p>
            <a:r>
              <a:rPr lang="en-US">
                <a:latin typeface="Aptos"/>
                <a:ea typeface="+mn-lt"/>
                <a:cs typeface="+mn-lt"/>
              </a:rPr>
              <a:t>Reformulated the assignment problem as a QUBO (Quadratic Unconstrained Binary Optimization)</a:t>
            </a:r>
          </a:p>
          <a:p>
            <a:pPr>
              <a:buClr>
                <a:srgbClr val="1287C3"/>
              </a:buClr>
            </a:pPr>
            <a:r>
              <a:rPr lang="en-US">
                <a:latin typeface="Aptos"/>
                <a:ea typeface="+mn-lt"/>
                <a:cs typeface="+mn-lt"/>
              </a:rPr>
              <a:t>Solved with Simulated Annealing and Tabu Search (D-Wave Ocean SDK, running locally)</a:t>
            </a:r>
          </a:p>
          <a:p>
            <a:pPr>
              <a:buClr>
                <a:srgbClr val="1287C3"/>
              </a:buClr>
            </a:pPr>
            <a:r>
              <a:rPr lang="en-US">
                <a:latin typeface="Aptos"/>
                <a:ea typeface="+mn-lt"/>
                <a:cs typeface="+mn-lt"/>
              </a:rPr>
              <a:t>Independent-order QUBO: reached ~94-97% of true optimal profit</a:t>
            </a:r>
            <a:endParaRPr lang="en-US" dirty="0">
              <a:latin typeface="Aptos"/>
              <a:ea typeface="+mn-lt"/>
              <a:cs typeface="+mn-lt"/>
            </a:endParaRPr>
          </a:p>
          <a:p>
            <a:pPr>
              <a:buClr>
                <a:srgbClr val="1287C3"/>
              </a:buClr>
            </a:pPr>
            <a:r>
              <a:rPr lang="en-US">
                <a:latin typeface="Aptos"/>
                <a:ea typeface="+mn-lt"/>
                <a:cs typeface="+mn-lt"/>
              </a:rPr>
              <a:t>Extended to a </a:t>
            </a:r>
            <a:r>
              <a:rPr lang="en-US" b="1">
                <a:latin typeface="Aptos"/>
                <a:ea typeface="+mn-lt"/>
                <a:cs typeface="+mn-lt"/>
              </a:rPr>
              <a:t>coupled QUBO</a:t>
            </a:r>
            <a:r>
              <a:rPr lang="en-US">
                <a:latin typeface="Aptos"/>
                <a:ea typeface="+mn-lt"/>
                <a:cs typeface="+mn-lt"/>
              </a:rPr>
              <a:t> — orders competing for shared inventory, matching the MILP's real-world constraint</a:t>
            </a:r>
            <a:endParaRPr lang="en-US" dirty="0">
              <a:latin typeface="Aptos"/>
            </a:endParaRPr>
          </a:p>
          <a:p>
            <a:pPr marL="0" indent="0">
              <a:buClr>
                <a:srgbClr val="1287C3"/>
              </a:buClr>
              <a:buNone/>
            </a:pPr>
            <a:r>
              <a:rPr lang="en-US" b="1">
                <a:latin typeface="Aptos"/>
              </a:rPr>
              <a:t>Note:</a:t>
            </a:r>
            <a:r>
              <a:rPr lang="en-US">
                <a:latin typeface="Aptos"/>
                <a:ea typeface="+mn-lt"/>
                <a:cs typeface="+mn-lt"/>
              </a:rPr>
              <a:t> Real</a:t>
            </a:r>
            <a:r>
              <a:rPr lang="en-US" dirty="0">
                <a:latin typeface="Aptos"/>
                <a:ea typeface="+mn-lt"/>
                <a:cs typeface="+mn-lt"/>
              </a:rPr>
              <a:t> D-Wave quantum hardware access was restricted during the project (free-tier policy change); all solving done via quantum-inspired methods on classical hardware</a:t>
            </a:r>
          </a:p>
        </p:txBody>
      </p:sp>
    </p:spTree>
    <p:extLst>
      <p:ext uri="{BB962C8B-B14F-4D97-AF65-F5344CB8AC3E}">
        <p14:creationId xmlns:p14="http://schemas.microsoft.com/office/powerpoint/2010/main" val="651210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360F6-A111-1EAF-A067-F708DF096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378788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A Real Bug, Honestly Diagnosed</a:t>
            </a:r>
            <a:br>
              <a:rPr lang="en-US" sz="2800" dirty="0">
                <a:ea typeface="+mj-lt"/>
                <a:cs typeface="+mj-lt"/>
              </a:rPr>
            </a:br>
            <a:r>
              <a:rPr lang="en-US" sz="2800">
                <a:latin typeface="Aptos"/>
                <a:ea typeface="+mj-lt"/>
                <a:cs typeface="+mj-lt"/>
              </a:rPr>
              <a:t>When automatic QUBO conversion breaks — and how we fixed it</a:t>
            </a:r>
            <a:endParaRPr lang="en-US" sz="280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88C02-7A33-D61C-CCFF-722E0D2D1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63150"/>
            <a:ext cx="10018713" cy="3728050"/>
          </a:xfrm>
        </p:spPr>
        <p:txBody>
          <a:bodyPr>
            <a:normAutofit fontScale="92500"/>
          </a:bodyPr>
          <a:lstStyle/>
          <a:p>
            <a:r>
              <a:rPr lang="en-US">
                <a:latin typeface="Aptos"/>
                <a:ea typeface="+mn-lt"/>
                <a:cs typeface="+mn-lt"/>
              </a:rPr>
              <a:t>Initial coupled QUBO left 9/20 orders unassigned — traced to a real technical limitation: overlapping constraints inflated one variable's bias by ~2000x (186.8M vs an actual value of -103K)</a:t>
            </a:r>
            <a:endParaRPr lang="en-US">
              <a:latin typeface="Aptos"/>
            </a:endParaRPr>
          </a:p>
          <a:p>
            <a:pPr>
              <a:buClr>
                <a:srgbClr val="1287C3"/>
              </a:buClr>
            </a:pPr>
            <a:r>
              <a:rPr lang="en-US" dirty="0">
                <a:latin typeface="Aptos"/>
                <a:ea typeface="+mn-lt"/>
                <a:cs typeface="+mn-lt"/>
              </a:rPr>
              <a:t>Root cause: </a:t>
            </a:r>
            <a:r>
              <a:rPr lang="en-US" dirty="0" err="1">
                <a:latin typeface="Aptos"/>
              </a:rPr>
              <a:t>dimod</a:t>
            </a:r>
            <a:r>
              <a:rPr lang="en-US" dirty="0" err="1">
                <a:latin typeface="Aptos"/>
                <a:ea typeface="+mn-lt"/>
                <a:cs typeface="+mn-lt"/>
              </a:rPr>
              <a:t>'s</a:t>
            </a:r>
            <a:r>
              <a:rPr lang="en-US" dirty="0">
                <a:latin typeface="Aptos"/>
                <a:ea typeface="+mn-lt"/>
                <a:cs typeface="+mn-lt"/>
              </a:rPr>
              <a:t> automatic constraint-to-penalty conversion doesn't scale well when one order touches many overlapping inventory constraints</a:t>
            </a:r>
            <a:endParaRPr lang="en-US">
              <a:latin typeface="Aptos"/>
            </a:endParaRPr>
          </a:p>
          <a:p>
            <a:pPr>
              <a:buClr>
                <a:srgbClr val="1287C3"/>
              </a:buClr>
            </a:pPr>
            <a:r>
              <a:rPr lang="en-US" b="1">
                <a:latin typeface="Aptos"/>
                <a:ea typeface="+mn-lt"/>
                <a:cs typeface="+mn-lt"/>
              </a:rPr>
              <a:t>Fix:</a:t>
            </a:r>
            <a:r>
              <a:rPr lang="en-US">
                <a:latin typeface="Aptos"/>
                <a:ea typeface="+mn-lt"/>
                <a:cs typeface="+mn-lt"/>
              </a:rPr>
              <a:t> aggregated per-SKU constraints into per-(order, DC) constraints — cut constraints from 6,440 → 260, eliminated the bug entirely</a:t>
            </a:r>
            <a:endParaRPr lang="en-US">
              <a:latin typeface="Aptos"/>
            </a:endParaRPr>
          </a:p>
          <a:p>
            <a:pPr marL="0" indent="0">
              <a:buClr>
                <a:srgbClr val="1287C3"/>
              </a:buClr>
              <a:buNone/>
            </a:pPr>
            <a:r>
              <a:rPr lang="en-US">
                <a:latin typeface="Aptos"/>
                <a:ea typeface="+mn-lt"/>
                <a:cs typeface="+mn-lt"/>
              </a:rPr>
              <a:t>Validated the fix at 20, 50, and 100 orders — 0 constraint violations at every scale</a:t>
            </a:r>
            <a:endParaRPr lang="en-US">
              <a:latin typeface="Aptos"/>
            </a:endParaRPr>
          </a:p>
          <a:p>
            <a:pPr>
              <a:buClr>
                <a:srgbClr val="1287C3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952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4F548-00FB-5E40-855C-332344896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Scaling &amp; Conclusion</a:t>
            </a:r>
            <a:br>
              <a:rPr lang="en-US" dirty="0">
                <a:ea typeface="+mj-lt"/>
                <a:cs typeface="+mj-lt"/>
              </a:rPr>
            </a:br>
            <a:r>
              <a:rPr lang="en-US" sz="3200" dirty="0">
                <a:latin typeface="Aptos"/>
                <a:ea typeface="+mj-lt"/>
                <a:cs typeface="+mj-lt"/>
              </a:rPr>
              <a:t>Both methods scaled </a:t>
            </a:r>
            <a:r>
              <a:rPr lang="en-US" sz="3200">
                <a:latin typeface="Aptos"/>
                <a:ea typeface="+mj-lt"/>
                <a:cs typeface="+mj-lt"/>
              </a:rPr>
              <a:t>differently</a:t>
            </a:r>
            <a:endParaRPr lang="en-US" sz="3200" dirty="0">
              <a:latin typeface="Aptos"/>
              <a:ea typeface="+mj-lt"/>
              <a:cs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6CE3F-A037-0EF5-B29A-31B7E8718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MILP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4A85C5-DB9D-1AD9-8862-6CF7386D4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4311" y="3263451"/>
            <a:ext cx="4995697" cy="1320050"/>
          </a:xfrm>
        </p:spPr>
        <p:txBody>
          <a:bodyPr>
            <a:normAutofit lnSpcReduction="10000"/>
          </a:bodyPr>
          <a:lstStyle/>
          <a:p>
            <a:r>
              <a:rPr lang="en-US" sz="2400">
                <a:latin typeface="Aptos"/>
                <a:ea typeface="+mn-lt"/>
                <a:cs typeface="+mn-lt"/>
              </a:rPr>
              <a:t>exact, but solve time grows super-linearly</a:t>
            </a:r>
            <a:endParaRPr lang="en-US"/>
          </a:p>
          <a:p>
            <a:pPr marL="0" indent="0">
              <a:buClr>
                <a:srgbClr val="1287C3"/>
              </a:buClr>
              <a:buNone/>
            </a:pPr>
            <a:r>
              <a:rPr lang="en-US" sz="2400">
                <a:latin typeface="Aptos"/>
                <a:ea typeface="+mn-lt"/>
                <a:cs typeface="+mn-lt"/>
              </a:rPr>
              <a:t> (51.8s at 300 orders → 410s at 1,109)</a:t>
            </a:r>
            <a:endParaRPr lang="en-US" sz="2400">
              <a:latin typeface="Apto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C1C774-4044-0C4A-FA53-7EA361CB2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Coupled QUBO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643A19-12A1-AF9D-0298-0E8FAEC2C6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07967" y="3249073"/>
            <a:ext cx="4909433" cy="1320051"/>
          </a:xfrm>
        </p:spPr>
        <p:txBody>
          <a:bodyPr>
            <a:normAutofit lnSpcReduction="10000"/>
          </a:bodyPr>
          <a:lstStyle/>
          <a:p>
            <a:r>
              <a:rPr lang="en-US" sz="2400">
                <a:latin typeface="Aptos"/>
                <a:ea typeface="+mn-lt"/>
                <a:cs typeface="+mn-lt"/>
              </a:rPr>
              <a:t>~91-95% optimal at ≤100 orders; decomposition helps at full scale but still trails MILP</a:t>
            </a:r>
          </a:p>
          <a:p>
            <a:pPr marL="0" indent="0">
              <a:buClr>
                <a:srgbClr val="1287C3"/>
              </a:buClr>
              <a:buNone/>
            </a:pPr>
            <a:r>
              <a:rPr lang="en-US" sz="2400">
                <a:latin typeface="Aptos"/>
                <a:ea typeface="+mn-lt"/>
                <a:cs typeface="+mn-lt"/>
              </a:rPr>
              <a:t> (589s, 5 violations, 87.4% of MILP profit — vs. 410s at 100% for MILP)</a:t>
            </a:r>
            <a:endParaRPr lang="en-US" sz="2400"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7D50A5-B7DB-E151-075B-001DA5B09C95}"/>
              </a:ext>
            </a:extLst>
          </p:cNvPr>
          <p:cNvSpPr txBox="1"/>
          <p:nvPr/>
        </p:nvSpPr>
        <p:spPr>
          <a:xfrm>
            <a:off x="1605063" y="4847616"/>
            <a:ext cx="988978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ptos"/>
                <a:ea typeface="+mn-lt"/>
                <a:cs typeface="+mn-lt"/>
              </a:rPr>
              <a:t>Exact optimization gives the best, most reliable answer at every scale tested. Quantum-inspired methods match it closely at smaller scale; decomposing along the problem’s natural structure helps significantly at full volume, but doesn’t fully close the gap — a good complement to exact optimization, not yet a full replacement for it.</a:t>
            </a:r>
            <a:endParaRPr lang="en-US" sz="200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55519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090613"/>
          </a:xfrm>
        </p:spPr>
        <p:txBody>
          <a:bodyPr>
            <a:normAutofit/>
          </a:bodyPr>
          <a:lstStyle/>
          <a:p>
            <a:r>
              <a:rPr lang="en-US" b="1"/>
              <a:t>Full-Scale Test: A Real Limit, and a Fix</a:t>
            </a:r>
            <a:br>
              <a:rPr lang="en-US" sz="2800" dirty="0"/>
            </a:br>
            <a:r>
              <a:rPr lang="en-US" sz="2800">
                <a:latin typeface="Aptos"/>
              </a:rPr>
              <a:t>What happened when the fix from the last slide met all 1,109 orders at once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484310" y="1978025"/>
          <a:ext cx="10018713" cy="1636652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3800000"/>
                <a:gridCol w="2100000"/>
                <a:gridCol w="2100000"/>
                <a:gridCol w="2018713"/>
              </a:tblGrid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ptos"/>
                        </a:rPr>
                        <a:t>Approach</a:t>
                      </a:r>
                    </a:p>
                  </a:txBody>
                  <a:tcPr marL="143055" marR="143055" marT="45720" marB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ptos"/>
                        </a:rPr>
                        <a:t>Violations</a:t>
                      </a:r>
                    </a:p>
                  </a:txBody>
                  <a:tcPr marL="143055" marR="143055" marT="45720" marB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ptos"/>
                        </a:rPr>
                        <a:t>Solve Time</a:t>
                      </a:r>
                    </a:p>
                  </a:txBody>
                  <a:tcPr marL="143055" marR="143055" marT="45720" marB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ptos"/>
                        </a:rPr>
                        <a:t>Profit</a:t>
                      </a:r>
                    </a:p>
                  </a:txBody>
                  <a:tcPr marL="143055" marR="143055" marT="45720" marB="45720" anchor="ctr"/>
                </a:tc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ptos"/>
                        </a:rPr>
                        <a:t>Single BQM (all 1,109 orders)</a:t>
                      </a:r>
                    </a:p>
                  </a:txBody>
                  <a:tcPr marL="143055" marR="143055" marT="45720" marB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ptos"/>
                        </a:rPr>
                        <a:t>17-23</a:t>
                      </a:r>
                    </a:p>
                  </a:txBody>
                  <a:tcPr marL="143055" marR="143055" marT="45720" marB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ptos"/>
                        </a:rPr>
                        <a:t>788-857s</a:t>
                      </a:r>
                    </a:p>
                  </a:txBody>
                  <a:tcPr marL="143055" marR="143055" marT="45720" marB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ptos"/>
                        </a:rPr>
                        <a:t>~$69.0-69.2M</a:t>
                      </a:r>
                    </a:p>
                  </a:txBody>
                  <a:tcPr marL="143055" marR="143055" marT="45720" marB="45720" anchor="ctr"/>
                </a:tc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Aptos"/>
                        </a:rPr>
                        <a:t>Per-date decomposition</a:t>
                      </a:r>
                    </a:p>
                  </a:txBody>
                  <a:tcPr marL="143055" marR="143055" marT="45720" marB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Aptos"/>
                        </a:rPr>
                        <a:t>5</a:t>
                      </a:r>
                    </a:p>
                  </a:txBody>
                  <a:tcPr marL="143055" marR="143055" marT="45720" marB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Aptos"/>
                        </a:rPr>
                        <a:t>589.4s</a:t>
                      </a:r>
                    </a:p>
                  </a:txBody>
                  <a:tcPr marL="143055" marR="143055" marT="45720" marB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Aptos"/>
                        </a:rPr>
                        <a:t>$73.98M</a:t>
                      </a:r>
                    </a:p>
                  </a:txBody>
                  <a:tcPr marL="143055" marR="143055" marT="45720" marB="45720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484310" y="3850000"/>
            <a:ext cx="10018713" cy="200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</a:bodyPr>
          <a:lstStyle/>
          <a:p>
            <a:r>
              <a:rPr lang="en-US" sz="1800">
                <a:latin typeface="Aptos"/>
              </a:rPr>
              <a:t>Insight: inventory constraints only link orders sharing the same DC, SKU, and date — orders on different dates never actually compete. Splitting the 1,109-order QUBO into ~10 date-based sub-problems (instead of one giant BQM) cut violations 3-4x, sped up solving by ~25-30%, and raised profit by ~$5M.</a:t>
            </a:r>
          </a:p>
          <a:p>
            <a:r>
              <a:rPr lang="en-US" sz="1800">
                <a:latin typeface="Aptos"/>
              </a:rPr>
              <a:t>The remaining 5 violations were retested at 3x the solver reads (1,000 → 3,000) on the largest date-buckets — identical result, confirming this is a structural limit, not a search-quality issue. It appears only once a single date's competing orders exceed ~100-150.</a:t>
            </a:r>
          </a:p>
        </p:txBody>
      </p:sp>
    </p:spTree>
    <p:extLst>
      <p:ext uri="{BB962C8B-B14F-4D97-AF65-F5344CB8AC3E}">
        <p14:creationId xmlns:p14="http://schemas.microsoft.com/office/powerpoint/2010/main" val="15080195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Parallax</vt:lpstr>
      <vt:lpstr>Nestlé Distributed Order Management Challenge</vt:lpstr>
      <vt:lpstr>When a distribution center can't fully fill an order, where should it go instead?</vt:lpstr>
      <vt:lpstr>Our Approach Three methods, compared head-to-head</vt:lpstr>
      <vt:lpstr>Key Results</vt:lpstr>
      <vt:lpstr>Quantum-Inspired Extension From exact optimization to quantum-inspired heuristics</vt:lpstr>
      <vt:lpstr>A Real Bug, Honestly Diagnosed When automatic QUBO conversion breaks — and how we fixed it</vt:lpstr>
      <vt:lpstr>Scaling &amp; Conclusion Both methods scaled differently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274</cp:revision>
  <dcterms:created xsi:type="dcterms:W3CDTF">2026-08-04T05:08:28Z</dcterms:created>
  <dcterms:modified xsi:type="dcterms:W3CDTF">2026-08-04T09:34:56Z</dcterms:modified>
</cp:coreProperties>
</file>